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UPR 2030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3F4F6"/>
                </a:solidFill>
              </a:rPr>
              <a:t>AI-Native Lead Intelligence Platform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3891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3F4F6"/>
                </a:solidFill>
              </a:rPr>
              <a:t>Investor &amp; Stakeholder Overview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3F4F6"/>
                </a:solidFill>
              </a:rPr>
              <a:t>November 2025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65D"/>
                </a:solidFill>
              </a:rPr>
              <a:t>The Problem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1F2937"/>
                </a:solidFill>
              </a:rPr>
              <a:t>Sales teams waste </a:t>
            </a:r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</a:rPr>
              <a:t>70% of their time</a:t>
            </a:r>
            <a:pPr indent="0" marL="0">
              <a:buNone/>
            </a:pPr>
            <a:r>
              <a:rPr lang="en-US" sz="2400" dirty="0">
                <a:solidFill>
                  <a:srgbClr val="1F2937"/>
                </a:solidFill>
              </a:rPr>
              <a:t> on non-selling activities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457200" y="2103120"/>
            <a:ext cx="1097280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2402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7 CLICKS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737360" y="22860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clicks to qualify a single lead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2926080"/>
            <a:ext cx="1097280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30632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20 MIN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737360" y="31089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minutes to draft personalized outreach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3749040"/>
            <a:ext cx="1097280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38862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30 MIN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737360" y="39319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minutes to prioritize daily leads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457200" y="4572000"/>
            <a:ext cx="1097280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47091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45 MIN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737360" y="47548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</a:rPr>
              <a:t>minutes for company research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65D"/>
                </a:solidFill>
              </a:rPr>
              <a:t>The Solution: Chat OS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28016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F3F4F6"/>
                </a:solidFill>
              </a:rPr>
              <a:t>"</a:t>
            </a:r>
            <a:pPr indent="0" marL="0">
              <a:buNone/>
            </a:pPr>
            <a:r>
              <a:rPr lang="en-US" sz="2400" i="1" dirty="0">
                <a:solidFill>
                  <a:srgbClr val="1A365D"/>
                </a:solidFill>
              </a:rPr>
              <a:t>Features navigate to users, not users to features</a:t>
            </a:r>
            <a:pPr indent="0" marL="0">
              <a:buNone/>
            </a:pPr>
            <a:r>
              <a:rPr lang="en-US" sz="3600" dirty="0">
                <a:solidFill>
                  <a:srgbClr val="F3F4F6"/>
                </a:solidFill>
              </a:rPr>
              <a:t>"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937"/>
                </a:solidFill>
              </a:rPr>
              <a:t>Traditional CRM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59E0B"/>
                </a:solidFill>
              </a:rPr>
              <a:t>User &gt; Navigate &gt; Form &gt; Submit &gt; Wait &gt; Result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0" y="22860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</a:rPr>
              <a:t>UPR 2030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0" y="274320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0B981"/>
                </a:solidFill>
              </a:rPr>
              <a:t>User Intent &gt; AI Executes &gt; User Approves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14400" y="3474720"/>
            <a:ext cx="7315200" cy="1828800"/>
          </a:xfrm>
          <a:prstGeom prst="roundRect">
            <a:avLst/>
          </a:prstGeom>
          <a:solidFill>
            <a:srgbClr val="F3F4F6"/>
          </a:solidFill>
          <a:ln w="254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365760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User: "Is TechCorp worth pursuing?"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097280" y="4023360"/>
            <a:ext cx="6858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</a:rPr>
              <a:t>AI: "I analyzed TechCorp using 4 SIVA tools: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</a:rPr>
              <a:t>   Company Quality: 78/100 (HIGH confidence)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</a:rPr>
              <a:t>   Timing: OPTIMAL (expansion signal 12 days ago)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</a:rPr>
              <a:t>   Product Fit: Premium Salary Account (92% match)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</a:rPr>
              <a:t>   VERDICT: High-quality lead. Recommend immediate outreach."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65D"/>
                </a:solidFill>
              </a:rPr>
              <a:t>SIVA: The AI Brain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F2937"/>
                </a:solidFill>
              </a:rPr>
              <a:t>Smart Intelligence for Value Assessment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560320" cy="2926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9202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SCORING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TOOLS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46888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CompanyQualityTool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ContactTierTool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TimingScoreTool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CompositeScoreTool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4206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10 tools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Full autonomy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0" y="1828800"/>
            <a:ext cx="2560320" cy="2926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19202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PRODUCT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TOOLS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291840" y="246888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BankingProductMatch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OpeningContextTool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OutreachChannelTool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EdgeCasesTool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0" y="4206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Banking-specific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UAE-optimized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0" y="1828800"/>
            <a:ext cx="2560320" cy="2926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0" y="192024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GENERATION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TOOLS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035040" y="2468880"/>
            <a:ext cx="2377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OutreachMessageGen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FollowUpStrategy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ObjectionHandler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RelationshipTracker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0" y="4206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5 tools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Human review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65D"/>
                </a:solidFill>
              </a:rPr>
              <a:t>Trust Framework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F2937"/>
                </a:solidFill>
              </a:rPr>
              <a:t>AI autonomy based on confidence + evidence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2286000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20116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FULL TRUST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926080" y="20116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&gt;=90%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0" y="2011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Auto-execute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651760"/>
            <a:ext cx="228600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83464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HIGH TRUST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26080" y="28346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75-89%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0" y="2834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Show + allow override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474720"/>
            <a:ext cx="2286000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6576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MEDIUM TRUST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926080" y="36576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60-74%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0" y="3657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Require confirmation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4297680"/>
            <a:ext cx="2286000" cy="6400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448056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LOW TRUST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926080" y="44805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&lt;60%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0" y="4480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Human review required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4572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Every AI decision includes: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" y="4937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63EB"/>
                </a:solidFill>
              </a:rPr>
              <a:t>Confidence Score | Evidence Sources | Tool Citations | Latency | Cost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65D"/>
                </a:solidFill>
              </a:rPr>
              <a:t>Impact: Before vs After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0" y="1371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BEFORE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0" y="1371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AFTER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2011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Clicks to qualify lead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0" y="1828800"/>
            <a:ext cx="1828800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0" y="2011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7 clicks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0" y="1828800"/>
            <a:ext cx="1828800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0" y="2011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 clicks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2926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Time to create outreach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200400" y="2743200"/>
            <a:ext cx="1828800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0" y="2926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20 min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86400" y="2743200"/>
            <a:ext cx="1828800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0" y="2926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0.5 min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57200" y="38404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Time to prioritize leads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00400" y="3657600"/>
            <a:ext cx="1828800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0" y="3840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30 min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5486400" y="3657600"/>
            <a:ext cx="1828800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0" y="3840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0.1 min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7200" y="4754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Company research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200400" y="4572000"/>
            <a:ext cx="1828800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0" y="4754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45 min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486400" y="4572000"/>
            <a:ext cx="1828800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0" y="4754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0.25 min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A365D"/>
                </a:solidFill>
              </a:rPr>
              <a:t>Target: 85%+ user trust in AI decisions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65D"/>
                </a:solidFill>
              </a:rPr>
              <a:t>Competitive Moat: 5 Layers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63040"/>
            <a:ext cx="548640" cy="548640"/>
          </a:xfrm>
          <a:prstGeom prst="ellipse">
            <a:avLst/>
          </a:prstGeom>
          <a:solidFill>
            <a:srgbClr val="1A365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002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1554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Proprietary Algorithms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0" y="1554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UAE-specific scoring, banking fit criteria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24028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3774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23317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Domain-Specific Data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14800" y="2331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Emirates NBD products, UAE free zones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017520"/>
            <a:ext cx="548640" cy="5486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1546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88720" y="3108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Trained Models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114800" y="31089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Learned from real user feedback &amp; overrides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794760"/>
            <a:ext cx="548640" cy="54864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39319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3886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Integrated Architecture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114800" y="38862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Chat OS + 15 tools designed together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7200" y="4572000"/>
            <a:ext cx="548640" cy="54864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88720" y="4663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2937"/>
                </a:solidFill>
              </a:rPr>
              <a:t>Iteration Velocity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114800" y="4663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2-week sprints, 10 sprints planned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563EB"/>
                </a:solidFill>
              </a:rPr>
              <a:t>By the time competitors catch up, UPR is 5 sprints ahead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65D"/>
                </a:solidFill>
              </a:rPr>
              <a:t>2030 Roadmap: 10 Sprints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63040"/>
            <a:ext cx="548640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002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7280" y="1600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Chat OS Enhancement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840480" y="16002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3F4F6"/>
                </a:solidFill>
              </a:rPr>
              <a:t>Next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463040"/>
            <a:ext cx="548640" cy="5486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9" name="Text 7"/>
          <p:cNvSpPr/>
          <p:nvPr/>
        </p:nvSpPr>
        <p:spPr>
          <a:xfrm>
            <a:off x="4754880" y="16002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55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94960" y="16002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Predictive Intelligence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38160" y="16002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3F4F6"/>
                </a:solidFill>
              </a:rPr>
              <a:t>Q1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240280"/>
            <a:ext cx="548640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23774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56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097280" y="2377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Knowledge Graph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840480" y="23774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3F4F6"/>
                </a:solidFill>
              </a:rPr>
              <a:t>Q1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2240280"/>
            <a:ext cx="548640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7" name="Text 15"/>
          <p:cNvSpPr/>
          <p:nvPr/>
        </p:nvSpPr>
        <p:spPr>
          <a:xfrm>
            <a:off x="4754880" y="23774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57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94960" y="2377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Advanced Filters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138160" y="23774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3F4F6"/>
                </a:solidFill>
              </a:rPr>
              <a:t>Q1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017520"/>
            <a:ext cx="548640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1546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58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97280" y="3154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Workflow Builder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840480" y="31546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3F4F6"/>
                </a:solidFill>
              </a:rPr>
              <a:t>Q2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3017520"/>
            <a:ext cx="548640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31546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59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94960" y="31546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Collaboration + RBAC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138160" y="31546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3F4F6"/>
                </a:solidFill>
              </a:rPr>
              <a:t>Q2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3794760"/>
            <a:ext cx="548640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9" name="Text 27"/>
          <p:cNvSpPr/>
          <p:nvPr/>
        </p:nvSpPr>
        <p:spPr>
          <a:xfrm>
            <a:off x="457200" y="39319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60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97280" y="3931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Report Designer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840480" y="39319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3F4F6"/>
                </a:solidFill>
              </a:rPr>
              <a:t>Q2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754880" y="3794760"/>
            <a:ext cx="548640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3" name="Text 31"/>
          <p:cNvSpPr/>
          <p:nvPr/>
        </p:nvSpPr>
        <p:spPr>
          <a:xfrm>
            <a:off x="4754880" y="39319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61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394960" y="39319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Mobile + PWA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8138160" y="39319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3F4F6"/>
                </a:solidFill>
              </a:rPr>
              <a:t>Q3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57200" y="4572000"/>
            <a:ext cx="548640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62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097280" y="4709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i18n + Arabic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3840480" y="4709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3F4F6"/>
                </a:solidFill>
              </a:rPr>
              <a:t>Q3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4754880" y="4572000"/>
            <a:ext cx="548640" cy="5486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1" name="Text 39"/>
          <p:cNvSpPr/>
          <p:nvPr/>
        </p:nvSpPr>
        <p:spPr>
          <a:xfrm>
            <a:off x="4754880" y="47091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63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394960" y="47091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Integration Testing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8138160" y="47091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3F4F6"/>
                </a:solidFill>
              </a:rPr>
              <a:t>Q3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57200" y="4754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365D"/>
                </a:solidFill>
              </a:rPr>
              <a:t>73 features across 10 sprints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365D"/>
                </a:solidFill>
              </a:rPr>
              <a:t>Technology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828800" cy="457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463040"/>
            <a:ext cx="1371600" cy="64008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6459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011680" y="16459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Claude 3.5 Sonnet | OpenAI GPT-4 | Custom NLU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137160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46888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Backend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011680" y="24688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Node.js | Express | PostgreSQL | Redis | Neo4j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108960"/>
            <a:ext cx="1371600" cy="6400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29184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Frontend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011680" y="32918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React | TypeScript | TailwindCSS | React Query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931920"/>
            <a:ext cx="1371600" cy="6400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411480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Infra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011680" y="41148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Google Cloud Run | Cloud SQL | BullMQ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4754880"/>
            <a:ext cx="1371600" cy="640080"/>
          </a:xfrm>
          <a:prstGeom prst="rect">
            <a:avLst/>
          </a:prstGeom>
          <a:solidFill>
            <a:srgbClr val="1F2937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9377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Data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011680" y="49377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Apollo | SerpAPI | RapidAPI (LinkedIn)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65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The Future is Conversational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3F4F6"/>
                </a:solidFill>
              </a:rPr>
              <a:t>UPR 2030: Where AI Meets Sales Intelligence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4114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3F4F6"/>
                </a:solidFill>
              </a:rPr>
              <a:t>15 SIVA Tools | 10 Sprints | 73 Features | 1 Vision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4572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3F4F6"/>
                </a:solidFill>
              </a:rPr>
              <a:t>Contact: UPR Team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Emirates NBD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UPR 2030 - AI-Native Lead Intelligence</dc:title>
  <dc:subject>PptxGenJS Presentation</dc:subject>
  <dc:creator>UPR Team</dc:creator>
  <cp:lastModifiedBy>UPR Team</cp:lastModifiedBy>
  <cp:revision>1</cp:revision>
  <dcterms:created xsi:type="dcterms:W3CDTF">2025-11-22T14:56:59Z</dcterms:created>
  <dcterms:modified xsi:type="dcterms:W3CDTF">2025-11-22T14:56:59Z</dcterms:modified>
</cp:coreProperties>
</file>